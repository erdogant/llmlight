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DF65-2A5F-C297-2863-CA3E0C040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CF0FB-63C3-F3B9-D55B-31D75206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12BB1-B77F-FD28-E90E-75BEBCB50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A39F1-A860-3492-B4DE-EA057AFE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B4C85-92B5-8885-56F5-2AD16976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9014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D09D0-2382-9ADF-B397-BDA4C51E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7AE9B-DBBC-E837-FF51-8850368E8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D9D24-5485-0569-F5AF-A967075B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1BCA6-C846-2766-240D-98E9DA203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8A8B-CE10-071A-A5E8-614B6786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3131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22BC-C4CF-1C76-5E61-68682256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7BCBD-8446-AACA-DFDB-AB7D24E9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200CA-BF80-F4C5-1A19-417E29FC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F27A7-4518-AAA3-6B19-BF9A31C1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3819A-D63B-7B42-62BE-3810A478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4258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002A-B350-2E7B-55F3-1C774D33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94F9D-74A8-5F09-02C6-FD76480A2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04D30-31BD-7B4A-C286-47972CF1F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9566D-F78B-2E8B-7C73-0969C579C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6EAEE-1C0B-4C02-9D68-6ACD1332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4EEFA-BFC2-A869-4893-B47F8963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955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F5F8-C472-21EA-C013-82EDD2D94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06440-A0CD-6B12-96A6-22F8B632A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AB199-36A1-53D0-6EA8-3BCEEB8F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AC1E5D-54FE-9EEA-0696-7C88AC767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2578F-F6CE-7ED0-354D-209C3A063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A36ED-5917-C621-2BA0-C4DAE6255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C20FC-641D-3D68-E361-90985F6C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A5A30-D7AC-C4C8-E907-47FDACF1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145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E0D8-3A2E-63BE-D931-BA53C31B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675322-B418-E505-945E-2CC5C4B73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EE3A6-3012-3D25-4803-9B2C8BA0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AD504-AF0D-4AB8-0ED3-0BDA4166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1948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FB90C-DB33-C406-4E00-A90C2A2A9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5CC94-EC60-11A5-D516-05F1DF16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668E-446B-824E-9E1D-F8072013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2447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40286-538B-16D8-F803-80366FD4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7D331-6968-A177-6443-96CE9CABD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16E00-28BB-BAA9-3061-37E4B29C2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46214-9CD8-68A1-D75C-B50C83D8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39499-175D-E574-24BC-AEFF9C380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EC4DC-C210-607E-050A-22986A840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44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BDFA6-0D95-CED2-31E9-9FB59B1C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73375-0F7E-E665-3D50-AB3DFD73F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9453F8-57DF-8642-87EA-F0A6B46C1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89F0A-9B6C-8CAA-B51E-156D6A05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0BA26-209C-4310-33D1-D7C3678A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BA8E6-D225-45CE-43CE-DE1D7E08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047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3C160-4669-9C11-00A7-AC9A2945E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28060-E5EC-F73F-1B54-F2CADAE4B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B025E-F915-2344-62C3-D2BB822C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FDF48-9194-6CAF-F41A-8C9D85BB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E6F98-33E3-452E-A2DC-6B59A3FD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497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431C21-9AF3-C031-CCBE-7E3E61184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B8795-7A1B-059C-1ABF-4BCF1CBB1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C81D3-C63D-0585-D992-220742A7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2BBF-1729-1D54-637B-F07295E2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80F02-73A5-8E8A-E26F-FA493305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0606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FD5AA-CF1A-84D5-8377-5434F9BD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F408E-7871-C34F-B30D-317853B56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C346E-4A0D-36A9-68AD-A4C1E9437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860D0-EBC9-4CCD-82FB-90EB89E22FA7}" type="datetimeFigureOut">
              <a:rPr lang="en-NL" smtClean="0"/>
              <a:t>21/09/2025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3CCCA-FD27-9AFD-5ECA-0DDDC1113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BDDF9-DDA8-71C4-3E15-E072F704D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18030-E201-4B1E-A92D-4A48892113F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6063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jpe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20EF5-6E15-D94E-2DF1-8DA2C19E2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A4B6DA07-FA81-C634-99E7-E5AEA5B3E8A2}"/>
              </a:ext>
            </a:extLst>
          </p:cNvPr>
          <p:cNvSpPr/>
          <p:nvPr/>
        </p:nvSpPr>
        <p:spPr>
          <a:xfrm>
            <a:off x="1499452" y="2209289"/>
            <a:ext cx="7638410" cy="2111098"/>
          </a:xfrm>
          <a:prstGeom prst="roundRect">
            <a:avLst>
              <a:gd name="adj" fmla="val 46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C065AB0-DC7A-292D-01F8-ECB366D06665}"/>
              </a:ext>
            </a:extLst>
          </p:cNvPr>
          <p:cNvSpPr txBox="1"/>
          <p:nvPr/>
        </p:nvSpPr>
        <p:spPr>
          <a:xfrm rot="16200000">
            <a:off x="1763044" y="3040801"/>
            <a:ext cx="1379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Instructions</a:t>
            </a:r>
            <a:endParaRPr lang="en-NL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6937D738-DF86-527E-7DA7-92B8D538DC41}"/>
              </a:ext>
            </a:extLst>
          </p:cNvPr>
          <p:cNvSpPr txBox="1"/>
          <p:nvPr/>
        </p:nvSpPr>
        <p:spPr>
          <a:xfrm>
            <a:off x="4768854" y="2347049"/>
            <a:ext cx="101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Context 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C726A3C-1B90-8D38-2B37-BC9D24E7A979}"/>
              </a:ext>
            </a:extLst>
          </p:cNvPr>
          <p:cNvSpPr txBox="1"/>
          <p:nvPr/>
        </p:nvSpPr>
        <p:spPr>
          <a:xfrm>
            <a:off x="7818427" y="3059668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  <a:endParaRPr lang="en-NL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9F29BE5E-767F-8D5B-7867-85A0FFA8136D}"/>
              </a:ext>
            </a:extLst>
          </p:cNvPr>
          <p:cNvSpPr txBox="1"/>
          <p:nvPr/>
        </p:nvSpPr>
        <p:spPr>
          <a:xfrm rot="16200000">
            <a:off x="1451624" y="3080172"/>
            <a:ext cx="787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</a:t>
            </a:r>
            <a:endParaRPr lang="en-NL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50B7DD4-1C94-E922-1FA2-396F419E2313}"/>
              </a:ext>
            </a:extLst>
          </p:cNvPr>
          <p:cNvSpPr txBox="1"/>
          <p:nvPr/>
        </p:nvSpPr>
        <p:spPr>
          <a:xfrm>
            <a:off x="4561907" y="3760661"/>
            <a:ext cx="1429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Chat History</a:t>
            </a:r>
            <a:endParaRPr lang="en-NL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9A494F6-1D95-3DDD-4384-3EB984D7535B}"/>
              </a:ext>
            </a:extLst>
          </p:cNvPr>
          <p:cNvSpPr txBox="1"/>
          <p:nvPr/>
        </p:nvSpPr>
        <p:spPr>
          <a:xfrm>
            <a:off x="4331074" y="3323890"/>
            <a:ext cx="18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 Information</a:t>
            </a:r>
            <a:endParaRPr lang="en-NL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B7F0AC7-5F86-0555-55CB-9E609F17051E}"/>
              </a:ext>
            </a:extLst>
          </p:cNvPr>
          <p:cNvSpPr txBox="1"/>
          <p:nvPr/>
        </p:nvSpPr>
        <p:spPr>
          <a:xfrm rot="16200000">
            <a:off x="2133886" y="3080167"/>
            <a:ext cx="1835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Role Information</a:t>
            </a:r>
            <a:endParaRPr lang="en-NL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3BA9B42-B97A-4A03-1601-CDFE9470E31D}"/>
              </a:ext>
            </a:extLst>
          </p:cNvPr>
          <p:cNvSpPr txBox="1"/>
          <p:nvPr/>
        </p:nvSpPr>
        <p:spPr>
          <a:xfrm>
            <a:off x="4581720" y="2862801"/>
            <a:ext cx="1389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RAG chunks</a:t>
            </a:r>
            <a:endParaRPr lang="en-NL" dirty="0"/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713086DE-AF2C-BC07-596F-03C2C2FBF20E}"/>
              </a:ext>
            </a:extLst>
          </p:cNvPr>
          <p:cNvCxnSpPr>
            <a:cxnSpLocks/>
          </p:cNvCxnSpPr>
          <p:nvPr/>
        </p:nvCxnSpPr>
        <p:spPr>
          <a:xfrm>
            <a:off x="2184740" y="2209289"/>
            <a:ext cx="0" cy="21110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7278133-D9A6-3BBD-063A-B9CF7A6EBF48}"/>
              </a:ext>
            </a:extLst>
          </p:cNvPr>
          <p:cNvCxnSpPr>
            <a:cxnSpLocks/>
          </p:cNvCxnSpPr>
          <p:nvPr/>
        </p:nvCxnSpPr>
        <p:spPr>
          <a:xfrm>
            <a:off x="2773884" y="2209289"/>
            <a:ext cx="0" cy="21110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AAE5F3C-C80D-251A-81A1-5B46B3804590}"/>
              </a:ext>
            </a:extLst>
          </p:cNvPr>
          <p:cNvCxnSpPr>
            <a:cxnSpLocks/>
          </p:cNvCxnSpPr>
          <p:nvPr/>
        </p:nvCxnSpPr>
        <p:spPr>
          <a:xfrm>
            <a:off x="3430534" y="2209281"/>
            <a:ext cx="0" cy="21110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1FFA8A62-4503-7943-EB19-ACDED3DEC19A}"/>
              </a:ext>
            </a:extLst>
          </p:cNvPr>
          <p:cNvCxnSpPr>
            <a:cxnSpLocks/>
          </p:cNvCxnSpPr>
          <p:nvPr/>
        </p:nvCxnSpPr>
        <p:spPr>
          <a:xfrm>
            <a:off x="7229283" y="2209280"/>
            <a:ext cx="0" cy="21110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20E9062-D781-18AC-2BB6-659529FC5522}"/>
              </a:ext>
            </a:extLst>
          </p:cNvPr>
          <p:cNvCxnSpPr>
            <a:cxnSpLocks/>
          </p:cNvCxnSpPr>
          <p:nvPr/>
        </p:nvCxnSpPr>
        <p:spPr>
          <a:xfrm>
            <a:off x="1457256" y="1663102"/>
            <a:ext cx="763841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796ED684-E5C9-30E5-ED44-44C8F75CAC4E}"/>
              </a:ext>
            </a:extLst>
          </p:cNvPr>
          <p:cNvSpPr txBox="1"/>
          <p:nvPr/>
        </p:nvSpPr>
        <p:spPr>
          <a:xfrm>
            <a:off x="1499453" y="1235751"/>
            <a:ext cx="7638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Context Window</a:t>
            </a:r>
          </a:p>
        </p:txBody>
      </p:sp>
    </p:spTree>
    <p:extLst>
      <p:ext uri="{BB962C8B-B14F-4D97-AF65-F5344CB8AC3E}">
        <p14:creationId xmlns:p14="http://schemas.microsoft.com/office/powerpoint/2010/main" val="1469770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46DB9-ED1F-03D4-1551-C3BD1C9F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>
            <a:extLst>
              <a:ext uri="{FF2B5EF4-FFF2-40B4-BE49-F238E27FC236}">
                <a16:creationId xmlns:a16="http://schemas.microsoft.com/office/drawing/2014/main" id="{BA90FB5D-114B-AD18-5AF2-834064A05926}"/>
              </a:ext>
            </a:extLst>
          </p:cNvPr>
          <p:cNvSpPr/>
          <p:nvPr/>
        </p:nvSpPr>
        <p:spPr>
          <a:xfrm>
            <a:off x="8072453" y="1613708"/>
            <a:ext cx="774646" cy="918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08A4446-AE2C-4693-B5D9-61ED436CE29D}"/>
              </a:ext>
            </a:extLst>
          </p:cNvPr>
          <p:cNvSpPr/>
          <p:nvPr/>
        </p:nvSpPr>
        <p:spPr>
          <a:xfrm>
            <a:off x="6695875" y="1622931"/>
            <a:ext cx="774646" cy="918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5376BED-FCC0-E187-26F1-3D5FCEBD0988}"/>
              </a:ext>
            </a:extLst>
          </p:cNvPr>
          <p:cNvGrpSpPr/>
          <p:nvPr/>
        </p:nvGrpSpPr>
        <p:grpSpPr>
          <a:xfrm>
            <a:off x="2381011" y="3129634"/>
            <a:ext cx="2410340" cy="1242027"/>
            <a:chOff x="2070220" y="4929447"/>
            <a:chExt cx="2410340" cy="1242027"/>
          </a:xfrm>
        </p:grpSpPr>
        <p:sp>
          <p:nvSpPr>
            <p:cNvPr id="84" name="Cylinder 83">
              <a:extLst>
                <a:ext uri="{FF2B5EF4-FFF2-40B4-BE49-F238E27FC236}">
                  <a16:creationId xmlns:a16="http://schemas.microsoft.com/office/drawing/2014/main" id="{F0F0A72D-CDB2-A2AF-22D1-CA1B12E0E6D3}"/>
                </a:ext>
              </a:extLst>
            </p:cNvPr>
            <p:cNvSpPr/>
            <p:nvPr/>
          </p:nvSpPr>
          <p:spPr>
            <a:xfrm>
              <a:off x="3596386" y="5070506"/>
              <a:ext cx="673582" cy="841319"/>
            </a:xfrm>
            <a:prstGeom prst="can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25E162E-FF8C-BE5F-1D69-A9B1E2B149D9}"/>
                </a:ext>
              </a:extLst>
            </p:cNvPr>
            <p:cNvSpPr txBox="1"/>
            <p:nvPr/>
          </p:nvSpPr>
          <p:spPr>
            <a:xfrm>
              <a:off x="3561592" y="5345092"/>
              <a:ext cx="726481" cy="272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Database</a:t>
              </a: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D12418E-3B57-4064-FDD9-7B2676ADC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87725" y="5173903"/>
              <a:ext cx="613721" cy="65091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A7B9D590-4297-D3B3-4725-CC27B170747E}"/>
                </a:ext>
              </a:extLst>
            </p:cNvPr>
            <p:cNvSpPr txBox="1"/>
            <p:nvPr/>
          </p:nvSpPr>
          <p:spPr>
            <a:xfrm>
              <a:off x="2087362" y="4935946"/>
              <a:ext cx="763351" cy="252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Documents</a:t>
              </a:r>
              <a:endParaRPr kumimoji="0" lang="nl-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6014D5C-E7CC-23B3-7159-E25D96B7FF1B}"/>
                </a:ext>
              </a:extLst>
            </p:cNvPr>
            <p:cNvSpPr txBox="1"/>
            <p:nvPr/>
          </p:nvSpPr>
          <p:spPr>
            <a:xfrm>
              <a:off x="2750166" y="5146301"/>
              <a:ext cx="673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Chunking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&amp;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Indexing</a:t>
              </a:r>
              <a:endParaRPr kumimoji="0" lang="nl-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CDA20647-EBFD-7BA9-B136-A0B3417FF437}"/>
                </a:ext>
              </a:extLst>
            </p:cNvPr>
            <p:cNvSpPr/>
            <p:nvPr/>
          </p:nvSpPr>
          <p:spPr>
            <a:xfrm>
              <a:off x="2876204" y="5619400"/>
              <a:ext cx="437041" cy="172063"/>
            </a:xfrm>
            <a:prstGeom prst="rightArrow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5729828-3316-92D4-A156-863B969A5581}"/>
                </a:ext>
              </a:extLst>
            </p:cNvPr>
            <p:cNvSpPr/>
            <p:nvPr/>
          </p:nvSpPr>
          <p:spPr>
            <a:xfrm>
              <a:off x="2070220" y="4929447"/>
              <a:ext cx="2410340" cy="1242027"/>
            </a:xfrm>
            <a:prstGeom prst="rect">
              <a:avLst/>
            </a:prstGeom>
            <a:noFill/>
            <a:ln w="12700" cap="flat" cmpd="sng" algn="ctr">
              <a:solidFill>
                <a:srgbClr val="C4232A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01B8950E-4CD3-F7E3-D490-14F21152416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1613" y="2684787"/>
            <a:ext cx="370435" cy="349023"/>
          </a:xfrm>
          <a:prstGeom prst="rect">
            <a:avLst/>
          </a:prstGeom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F290710-EDCE-36EE-78C7-28280199C1D7}"/>
              </a:ext>
            </a:extLst>
          </p:cNvPr>
          <p:cNvCxnSpPr/>
          <p:nvPr/>
        </p:nvCxnSpPr>
        <p:spPr>
          <a:xfrm>
            <a:off x="2996811" y="2728927"/>
            <a:ext cx="0" cy="27432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E7AD2A9-25CD-ED43-A758-859C4D11DC59}"/>
              </a:ext>
            </a:extLst>
          </p:cNvPr>
          <p:cNvCxnSpPr>
            <a:cxnSpLocks/>
          </p:cNvCxnSpPr>
          <p:nvPr/>
        </p:nvCxnSpPr>
        <p:spPr>
          <a:xfrm flipV="1">
            <a:off x="3122685" y="2731184"/>
            <a:ext cx="0" cy="27432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2C2D395-10EA-9F02-7E19-A1960A9FE2BA}"/>
              </a:ext>
            </a:extLst>
          </p:cNvPr>
          <p:cNvGrpSpPr/>
          <p:nvPr/>
        </p:nvGrpSpPr>
        <p:grpSpPr>
          <a:xfrm>
            <a:off x="2332745" y="1796454"/>
            <a:ext cx="1430547" cy="548639"/>
            <a:chOff x="2468352" y="3418732"/>
            <a:chExt cx="1430547" cy="548639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585E82E-CC70-01E8-4431-8AF710F944B9}"/>
                </a:ext>
              </a:extLst>
            </p:cNvPr>
            <p:cNvGrpSpPr/>
            <p:nvPr/>
          </p:nvGrpSpPr>
          <p:grpSpPr>
            <a:xfrm>
              <a:off x="2468352" y="3418732"/>
              <a:ext cx="1430547" cy="548639"/>
              <a:chOff x="2874788" y="3067514"/>
              <a:chExt cx="1430547" cy="548639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AECC3057-6FAA-CFE7-BC06-D8258F387046}"/>
                  </a:ext>
                </a:extLst>
              </p:cNvPr>
              <p:cNvSpPr/>
              <p:nvPr/>
            </p:nvSpPr>
            <p:spPr>
              <a:xfrm>
                <a:off x="3010964" y="3067514"/>
                <a:ext cx="1294371" cy="548639"/>
              </a:xfrm>
              <a:prstGeom prst="roundRect">
                <a:avLst/>
              </a:prstGeom>
              <a:solidFill>
                <a:srgbClr val="FFC000">
                  <a:alpha val="24000"/>
                </a:srgbClr>
              </a:solidFill>
              <a:ln w="12700" cap="flat" cmpd="sng" algn="ctr">
                <a:solidFill>
                  <a:srgbClr val="3C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909CF05-7B4D-FE14-93BB-53440D7DD1A4}"/>
                  </a:ext>
                </a:extLst>
              </p:cNvPr>
              <p:cNvSpPr txBox="1"/>
              <p:nvPr/>
            </p:nvSpPr>
            <p:spPr>
              <a:xfrm>
                <a:off x="2874788" y="3109171"/>
                <a:ext cx="1081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Retriever with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embedding model</a:t>
                </a:r>
                <a:endParaRPr kumimoji="0" lang="nl-NL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76DEE4EB-EAB6-CC00-A02C-C7E8EF298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364086" y="3475119"/>
              <a:ext cx="481611" cy="426040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804CAC9-E884-BFEB-C1E0-0C835D34395C}"/>
              </a:ext>
            </a:extLst>
          </p:cNvPr>
          <p:cNvGrpSpPr/>
          <p:nvPr/>
        </p:nvGrpSpPr>
        <p:grpSpPr>
          <a:xfrm>
            <a:off x="4101700" y="1796454"/>
            <a:ext cx="1294371" cy="548639"/>
            <a:chOff x="4345424" y="3779756"/>
            <a:chExt cx="1294371" cy="548639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089DCE4E-59E5-4435-87D4-ED106F18932D}"/>
                </a:ext>
              </a:extLst>
            </p:cNvPr>
            <p:cNvGrpSpPr/>
            <p:nvPr/>
          </p:nvGrpSpPr>
          <p:grpSpPr>
            <a:xfrm>
              <a:off x="4345424" y="3779756"/>
              <a:ext cx="1294371" cy="548639"/>
              <a:chOff x="3010964" y="3067514"/>
              <a:chExt cx="1294371" cy="548639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03D32EAA-1D05-F28E-706F-F1BDCE44BA88}"/>
                  </a:ext>
                </a:extLst>
              </p:cNvPr>
              <p:cNvSpPr/>
              <p:nvPr/>
            </p:nvSpPr>
            <p:spPr>
              <a:xfrm>
                <a:off x="3010964" y="3067514"/>
                <a:ext cx="1294371" cy="548639"/>
              </a:xfrm>
              <a:prstGeom prst="roundRect">
                <a:avLst/>
              </a:prstGeom>
              <a:solidFill>
                <a:srgbClr val="FFC000">
                  <a:alpha val="24000"/>
                </a:srgbClr>
              </a:solidFill>
              <a:ln w="12700" cap="flat" cmpd="sng" algn="ctr">
                <a:solidFill>
                  <a:srgbClr val="3C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27736BB-B887-F0E3-C65E-E93BB973029F}"/>
                  </a:ext>
                </a:extLst>
              </p:cNvPr>
              <p:cNvSpPr txBox="1"/>
              <p:nvPr/>
            </p:nvSpPr>
            <p:spPr>
              <a:xfrm>
                <a:off x="3010964" y="3154891"/>
                <a:ext cx="7595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Ranking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model</a:t>
                </a:r>
                <a:endParaRPr kumimoji="0" lang="nl-NL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062E8CCD-D6E7-F9B7-5D6E-FA27AA367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00270" y="3798979"/>
              <a:ext cx="545230" cy="497977"/>
            </a:xfrm>
            <a:prstGeom prst="rect">
              <a:avLst/>
            </a:prstGeom>
          </p:spPr>
        </p:pic>
      </p:grp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F878F9B2-BB9E-D786-B1BD-84C09E0B0FE9}"/>
              </a:ext>
            </a:extLst>
          </p:cNvPr>
          <p:cNvCxnSpPr>
            <a:cxnSpLocks/>
          </p:cNvCxnSpPr>
          <p:nvPr/>
        </p:nvCxnSpPr>
        <p:spPr>
          <a:xfrm>
            <a:off x="3813976" y="2050281"/>
            <a:ext cx="234384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08" name="Picture 2" descr="Bot (informática) - EcuRed">
            <a:extLst>
              <a:ext uri="{FF2B5EF4-FFF2-40B4-BE49-F238E27FC236}">
                <a16:creationId xmlns:a16="http://schemas.microsoft.com/office/drawing/2014/main" id="{E313AB34-4957-2CD7-D8A4-F3DA6D7712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6892669" y="1655904"/>
            <a:ext cx="381057" cy="47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9187DCF8-B1A4-8244-0154-B3926648FBB8}"/>
              </a:ext>
            </a:extLst>
          </p:cNvPr>
          <p:cNvSpPr/>
          <p:nvPr/>
        </p:nvSpPr>
        <p:spPr>
          <a:xfrm>
            <a:off x="2381011" y="1052879"/>
            <a:ext cx="3227805" cy="226935"/>
          </a:xfrm>
          <a:prstGeom prst="roundRect">
            <a:avLst>
              <a:gd name="adj" fmla="val 11369"/>
            </a:avLst>
          </a:prstGeom>
          <a:solidFill>
            <a:srgbClr val="A1C93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Question: Where are my keys?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10697C5-FB82-1433-9A40-D1E19BE77119}"/>
              </a:ext>
            </a:extLst>
          </p:cNvPr>
          <p:cNvSpPr/>
          <p:nvPr/>
        </p:nvSpPr>
        <p:spPr>
          <a:xfrm>
            <a:off x="2403149" y="1600120"/>
            <a:ext cx="3074425" cy="958275"/>
          </a:xfrm>
          <a:prstGeom prst="rect">
            <a:avLst/>
          </a:prstGeom>
          <a:noFill/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79E1F4A-A2ED-4EAF-CD3F-4ACF1F0248A6}"/>
              </a:ext>
            </a:extLst>
          </p:cNvPr>
          <p:cNvSpPr txBox="1"/>
          <p:nvPr/>
        </p:nvSpPr>
        <p:spPr>
          <a:xfrm>
            <a:off x="5515219" y="2058944"/>
            <a:ext cx="11737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 Selection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DBA5F7D-75F9-6728-6F91-3EE504C2E198}"/>
              </a:ext>
            </a:extLst>
          </p:cNvPr>
          <p:cNvSpPr txBox="1"/>
          <p:nvPr/>
        </p:nvSpPr>
        <p:spPr>
          <a:xfrm>
            <a:off x="6716195" y="2171005"/>
            <a:ext cx="754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Language</a:t>
            </a:r>
          </a:p>
          <a:p>
            <a:pPr algn="ctr"/>
            <a:r>
              <a:rPr lang="en-US" sz="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</a:t>
            </a:r>
            <a:endParaRPr lang="nl-NL" sz="8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CE49DEBF-3447-5785-256F-A4398B19FF1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30516" y="1787012"/>
            <a:ext cx="507697" cy="52319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B2175D5E-6457-DC11-09D0-6D87A687570D}"/>
              </a:ext>
            </a:extLst>
          </p:cNvPr>
          <p:cNvSpPr txBox="1"/>
          <p:nvPr/>
        </p:nvSpPr>
        <p:spPr>
          <a:xfrm>
            <a:off x="7495143" y="2193969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Output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C16F991-F0C3-BBD3-1E66-D914CC5F08B1}"/>
              </a:ext>
            </a:extLst>
          </p:cNvPr>
          <p:cNvCxnSpPr>
            <a:cxnSpLocks/>
          </p:cNvCxnSpPr>
          <p:nvPr/>
        </p:nvCxnSpPr>
        <p:spPr>
          <a:xfrm>
            <a:off x="5762383" y="2025386"/>
            <a:ext cx="64800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520B2BA1-C02E-F9C8-3806-CDC26A0E3EDF}"/>
              </a:ext>
            </a:extLst>
          </p:cNvPr>
          <p:cNvSpPr txBox="1"/>
          <p:nvPr/>
        </p:nvSpPr>
        <p:spPr>
          <a:xfrm>
            <a:off x="2805376" y="4097252"/>
            <a:ext cx="15199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302BAB5-6BF2-CAB6-9208-108077FC3301}"/>
              </a:ext>
            </a:extLst>
          </p:cNvPr>
          <p:cNvCxnSpPr>
            <a:cxnSpLocks/>
          </p:cNvCxnSpPr>
          <p:nvPr/>
        </p:nvCxnSpPr>
        <p:spPr>
          <a:xfrm>
            <a:off x="7581917" y="2019886"/>
            <a:ext cx="38004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6" name="Picture 2" descr="Gear Icon Images – Browse 1,547,415 Stock Photos, Vectors ...">
            <a:extLst>
              <a:ext uri="{FF2B5EF4-FFF2-40B4-BE49-F238E27FC236}">
                <a16:creationId xmlns:a16="http://schemas.microsoft.com/office/drawing/2014/main" id="{CF3E5549-9107-7162-FA1B-358B058BD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022" y="1503097"/>
            <a:ext cx="267741" cy="26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6CC59F-23AF-5408-2516-B095701E8A87}"/>
              </a:ext>
            </a:extLst>
          </p:cNvPr>
          <p:cNvSpPr txBox="1"/>
          <p:nvPr/>
        </p:nvSpPr>
        <p:spPr>
          <a:xfrm>
            <a:off x="6050917" y="1493781"/>
            <a:ext cx="4716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Temp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97431-CBDD-8494-C420-D7B7F2BC0CC2}"/>
              </a:ext>
            </a:extLst>
          </p:cNvPr>
          <p:cNvSpPr txBox="1"/>
          <p:nvPr/>
        </p:nvSpPr>
        <p:spPr>
          <a:xfrm rot="3268670">
            <a:off x="6235153" y="1277547"/>
            <a:ext cx="4732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Top 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36EA6-A969-2A33-268D-2424841354D9}"/>
              </a:ext>
            </a:extLst>
          </p:cNvPr>
          <p:cNvSpPr txBox="1"/>
          <p:nvPr/>
        </p:nvSpPr>
        <p:spPr>
          <a:xfrm rot="5400000">
            <a:off x="6482438" y="1230037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Top 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A365B7-FDAB-2C93-8854-AA6EBCC3580F}"/>
              </a:ext>
            </a:extLst>
          </p:cNvPr>
          <p:cNvSpPr txBox="1"/>
          <p:nvPr/>
        </p:nvSpPr>
        <p:spPr>
          <a:xfrm>
            <a:off x="4858092" y="2326253"/>
            <a:ext cx="6206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(Cosine)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59B68C-F606-D3F6-3B23-AD2257F37A9E}"/>
              </a:ext>
            </a:extLst>
          </p:cNvPr>
          <p:cNvSpPr txBox="1"/>
          <p:nvPr/>
        </p:nvSpPr>
        <p:spPr>
          <a:xfrm>
            <a:off x="2418237" y="2344370"/>
            <a:ext cx="12490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(TFIDF, BOW, BERT)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3B020A-F1C5-B485-674D-6BB2350A0ACB}"/>
              </a:ext>
            </a:extLst>
          </p:cNvPr>
          <p:cNvSpPr txBox="1"/>
          <p:nvPr/>
        </p:nvSpPr>
        <p:spPr>
          <a:xfrm>
            <a:off x="3640005" y="2659881"/>
            <a:ext cx="15584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Searching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ACB2DA-5DFD-A844-8195-41461E61E6C7}"/>
              </a:ext>
            </a:extLst>
          </p:cNvPr>
          <p:cNvSpPr txBox="1"/>
          <p:nvPr/>
        </p:nvSpPr>
        <p:spPr>
          <a:xfrm>
            <a:off x="3631471" y="2859286"/>
            <a:ext cx="9509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800" dirty="0"/>
              <a:t>FAISS, </a:t>
            </a:r>
            <a:r>
              <a:rPr lang="en-US" sz="800" dirty="0" err="1"/>
              <a:t>MemVid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4FFEFFD-9328-1628-436A-0813ED5E8220}"/>
              </a:ext>
            </a:extLst>
          </p:cNvPr>
          <p:cNvCxnSpPr/>
          <p:nvPr/>
        </p:nvCxnSpPr>
        <p:spPr>
          <a:xfrm>
            <a:off x="3066230" y="1390232"/>
            <a:ext cx="0" cy="18288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98F50DC-19D7-A893-F525-A52B0C4880E2}"/>
              </a:ext>
            </a:extLst>
          </p:cNvPr>
          <p:cNvSpPr txBox="1"/>
          <p:nvPr/>
        </p:nvSpPr>
        <p:spPr>
          <a:xfrm>
            <a:off x="3224748" y="1361227"/>
            <a:ext cx="2385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&amp; Scoring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03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98E92-3193-985C-93EC-29096506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>
            <a:extLst>
              <a:ext uri="{FF2B5EF4-FFF2-40B4-BE49-F238E27FC236}">
                <a16:creationId xmlns:a16="http://schemas.microsoft.com/office/drawing/2014/main" id="{6EED06E3-F669-E68E-8D36-628752AA82F4}"/>
              </a:ext>
            </a:extLst>
          </p:cNvPr>
          <p:cNvSpPr/>
          <p:nvPr/>
        </p:nvSpPr>
        <p:spPr>
          <a:xfrm>
            <a:off x="8638975" y="3333483"/>
            <a:ext cx="774646" cy="918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AE1A3A7-0A8F-1615-E9C9-FF80E5E59FA0}"/>
              </a:ext>
            </a:extLst>
          </p:cNvPr>
          <p:cNvSpPr/>
          <p:nvPr/>
        </p:nvSpPr>
        <p:spPr>
          <a:xfrm>
            <a:off x="7262397" y="3342706"/>
            <a:ext cx="774646" cy="918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21A6808-11DA-EC93-523E-C18381F64E31}"/>
              </a:ext>
            </a:extLst>
          </p:cNvPr>
          <p:cNvGrpSpPr/>
          <p:nvPr/>
        </p:nvGrpSpPr>
        <p:grpSpPr>
          <a:xfrm>
            <a:off x="2381011" y="3129634"/>
            <a:ext cx="2410340" cy="1242027"/>
            <a:chOff x="2070220" y="4929447"/>
            <a:chExt cx="2410340" cy="1242027"/>
          </a:xfrm>
        </p:grpSpPr>
        <p:sp>
          <p:nvSpPr>
            <p:cNvPr id="84" name="Cylinder 83">
              <a:extLst>
                <a:ext uri="{FF2B5EF4-FFF2-40B4-BE49-F238E27FC236}">
                  <a16:creationId xmlns:a16="http://schemas.microsoft.com/office/drawing/2014/main" id="{EC957231-C7DA-FA59-123E-9A36EBE3091F}"/>
                </a:ext>
              </a:extLst>
            </p:cNvPr>
            <p:cNvSpPr/>
            <p:nvPr/>
          </p:nvSpPr>
          <p:spPr>
            <a:xfrm>
              <a:off x="3596386" y="5070506"/>
              <a:ext cx="673582" cy="841319"/>
            </a:xfrm>
            <a:prstGeom prst="can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B42E093-637F-7780-60B0-A1F595C0813C}"/>
                </a:ext>
              </a:extLst>
            </p:cNvPr>
            <p:cNvSpPr txBox="1"/>
            <p:nvPr/>
          </p:nvSpPr>
          <p:spPr>
            <a:xfrm>
              <a:off x="3561592" y="5345092"/>
              <a:ext cx="726481" cy="272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Database</a:t>
              </a:r>
            </a:p>
          </p:txBody>
        </p:sp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FA0ACA4-E2E6-D4B9-C22B-A9BC29495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187725" y="5173903"/>
              <a:ext cx="613721" cy="65091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FC4707D-1EFF-DA5E-0038-75C48F8EE76D}"/>
                </a:ext>
              </a:extLst>
            </p:cNvPr>
            <p:cNvSpPr txBox="1"/>
            <p:nvPr/>
          </p:nvSpPr>
          <p:spPr>
            <a:xfrm>
              <a:off x="2087362" y="4935946"/>
              <a:ext cx="763351" cy="2521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Documents</a:t>
              </a:r>
              <a:endParaRPr kumimoji="0" lang="nl-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00EA5D2-CF9A-0D1F-661D-B672A9478915}"/>
                </a:ext>
              </a:extLst>
            </p:cNvPr>
            <p:cNvSpPr txBox="1"/>
            <p:nvPr/>
          </p:nvSpPr>
          <p:spPr>
            <a:xfrm>
              <a:off x="2750166" y="5146301"/>
              <a:ext cx="673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Chunking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&amp;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Indexing</a:t>
              </a:r>
              <a:endParaRPr kumimoji="0" lang="nl-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8AE69189-C04F-FF8C-D82E-F65DF0A76C87}"/>
                </a:ext>
              </a:extLst>
            </p:cNvPr>
            <p:cNvSpPr/>
            <p:nvPr/>
          </p:nvSpPr>
          <p:spPr>
            <a:xfrm>
              <a:off x="2876204" y="5619400"/>
              <a:ext cx="437041" cy="172063"/>
            </a:xfrm>
            <a:prstGeom prst="rightArrow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10BB855-A6EB-28A0-B546-7DD8F4B1EDB2}"/>
                </a:ext>
              </a:extLst>
            </p:cNvPr>
            <p:cNvSpPr/>
            <p:nvPr/>
          </p:nvSpPr>
          <p:spPr>
            <a:xfrm>
              <a:off x="2070220" y="4929447"/>
              <a:ext cx="2410340" cy="1242027"/>
            </a:xfrm>
            <a:prstGeom prst="rect">
              <a:avLst/>
            </a:prstGeom>
            <a:noFill/>
            <a:ln w="12700" cap="flat" cmpd="sng" algn="ctr">
              <a:solidFill>
                <a:srgbClr val="C4232A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31E8E5B7-6A9F-6938-EE7D-5D4E5CD96DB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1613" y="2684787"/>
            <a:ext cx="370435" cy="349023"/>
          </a:xfrm>
          <a:prstGeom prst="rect">
            <a:avLst/>
          </a:prstGeom>
        </p:spPr>
      </p:pic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96C8661-897B-471F-E988-91894658CAA5}"/>
              </a:ext>
            </a:extLst>
          </p:cNvPr>
          <p:cNvCxnSpPr/>
          <p:nvPr/>
        </p:nvCxnSpPr>
        <p:spPr>
          <a:xfrm>
            <a:off x="2996811" y="2728927"/>
            <a:ext cx="0" cy="27432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CE54518-B377-8A35-D03B-CE84BDF0DEAB}"/>
              </a:ext>
            </a:extLst>
          </p:cNvPr>
          <p:cNvCxnSpPr>
            <a:cxnSpLocks/>
          </p:cNvCxnSpPr>
          <p:nvPr/>
        </p:nvCxnSpPr>
        <p:spPr>
          <a:xfrm flipV="1">
            <a:off x="3122685" y="2731184"/>
            <a:ext cx="0" cy="27432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D7A5C8C-2A14-8B04-9AB6-9980DCB93678}"/>
              </a:ext>
            </a:extLst>
          </p:cNvPr>
          <p:cNvGrpSpPr/>
          <p:nvPr/>
        </p:nvGrpSpPr>
        <p:grpSpPr>
          <a:xfrm>
            <a:off x="2332745" y="1750734"/>
            <a:ext cx="1430547" cy="548639"/>
            <a:chOff x="2468352" y="3418732"/>
            <a:chExt cx="1430547" cy="548639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7BAD432-6208-5654-99E2-5E4F6C915AAD}"/>
                </a:ext>
              </a:extLst>
            </p:cNvPr>
            <p:cNvGrpSpPr/>
            <p:nvPr/>
          </p:nvGrpSpPr>
          <p:grpSpPr>
            <a:xfrm>
              <a:off x="2468352" y="3418732"/>
              <a:ext cx="1430547" cy="548639"/>
              <a:chOff x="2874788" y="3067514"/>
              <a:chExt cx="1430547" cy="548639"/>
            </a:xfrm>
          </p:grpSpPr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635D43EE-0893-7FFE-BAC0-D604C739484C}"/>
                  </a:ext>
                </a:extLst>
              </p:cNvPr>
              <p:cNvSpPr/>
              <p:nvPr/>
            </p:nvSpPr>
            <p:spPr>
              <a:xfrm>
                <a:off x="3010964" y="3067514"/>
                <a:ext cx="1294371" cy="548639"/>
              </a:xfrm>
              <a:prstGeom prst="roundRect">
                <a:avLst/>
              </a:prstGeom>
              <a:solidFill>
                <a:srgbClr val="FFC000">
                  <a:alpha val="24000"/>
                </a:srgbClr>
              </a:solidFill>
              <a:ln w="12700" cap="flat" cmpd="sng" algn="ctr">
                <a:solidFill>
                  <a:srgbClr val="3C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FEA0036D-15B9-1F68-1B3B-B8BA52B8F618}"/>
                  </a:ext>
                </a:extLst>
              </p:cNvPr>
              <p:cNvSpPr txBox="1"/>
              <p:nvPr/>
            </p:nvSpPr>
            <p:spPr>
              <a:xfrm>
                <a:off x="2874788" y="3109171"/>
                <a:ext cx="10812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Retriever with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embedding model</a:t>
                </a:r>
                <a:endParaRPr kumimoji="0" lang="nl-NL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AF1D8969-9913-6A1C-1A53-95B000F0D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364086" y="3475119"/>
              <a:ext cx="481611" cy="426040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78462A9-3ADD-7EFB-4B36-D40500F3A66A}"/>
              </a:ext>
            </a:extLst>
          </p:cNvPr>
          <p:cNvGrpSpPr/>
          <p:nvPr/>
        </p:nvGrpSpPr>
        <p:grpSpPr>
          <a:xfrm>
            <a:off x="4101700" y="1750734"/>
            <a:ext cx="1294371" cy="548639"/>
            <a:chOff x="4345424" y="3779756"/>
            <a:chExt cx="1294371" cy="548639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FF5A7DF-3104-52BC-232C-3DF1D5BF46CD}"/>
                </a:ext>
              </a:extLst>
            </p:cNvPr>
            <p:cNvGrpSpPr/>
            <p:nvPr/>
          </p:nvGrpSpPr>
          <p:grpSpPr>
            <a:xfrm>
              <a:off x="4345424" y="3779756"/>
              <a:ext cx="1294371" cy="548639"/>
              <a:chOff x="3010964" y="3067514"/>
              <a:chExt cx="1294371" cy="548639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4A91FCFF-24A9-9228-2F97-C66A1150319A}"/>
                  </a:ext>
                </a:extLst>
              </p:cNvPr>
              <p:cNvSpPr/>
              <p:nvPr/>
            </p:nvSpPr>
            <p:spPr>
              <a:xfrm>
                <a:off x="3010964" y="3067514"/>
                <a:ext cx="1294371" cy="548639"/>
              </a:xfrm>
              <a:prstGeom prst="roundRect">
                <a:avLst/>
              </a:prstGeom>
              <a:solidFill>
                <a:srgbClr val="FFC000">
                  <a:alpha val="24000"/>
                </a:srgbClr>
              </a:solidFill>
              <a:ln w="12700" cap="flat" cmpd="sng" algn="ctr">
                <a:solidFill>
                  <a:srgbClr val="3C9BD5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nl-NL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Light"/>
                  <a:ea typeface="+mn-ea"/>
                  <a:cs typeface="+mn-cs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E77699EB-8325-9A0C-1210-9338F10EC5EF}"/>
                  </a:ext>
                </a:extLst>
              </p:cNvPr>
              <p:cNvSpPr txBox="1"/>
              <p:nvPr/>
            </p:nvSpPr>
            <p:spPr>
              <a:xfrm>
                <a:off x="3010964" y="3154891"/>
                <a:ext cx="75955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Ranking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Verdana" panose="020B0604030504040204" pitchFamily="34" charset="0"/>
                  </a:rPr>
                  <a:t>model</a:t>
                </a:r>
                <a:endParaRPr kumimoji="0" lang="nl-NL" sz="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p:grp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E19A0AFE-2FF1-7C78-F36A-A2DD60550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4F4F6"/>
                </a:clrFrom>
                <a:clrTo>
                  <a:srgbClr val="F4F4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000270" y="3798979"/>
              <a:ext cx="545230" cy="497977"/>
            </a:xfrm>
            <a:prstGeom prst="rect">
              <a:avLst/>
            </a:prstGeom>
          </p:spPr>
        </p:pic>
      </p:grp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9B24A86-3A46-E0F3-E67B-C5F023A689D1}"/>
              </a:ext>
            </a:extLst>
          </p:cNvPr>
          <p:cNvCxnSpPr>
            <a:cxnSpLocks/>
          </p:cNvCxnSpPr>
          <p:nvPr/>
        </p:nvCxnSpPr>
        <p:spPr>
          <a:xfrm>
            <a:off x="3813976" y="2004561"/>
            <a:ext cx="234384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08" name="Picture 2" descr="Bot (informática) - EcuRed">
            <a:extLst>
              <a:ext uri="{FF2B5EF4-FFF2-40B4-BE49-F238E27FC236}">
                <a16:creationId xmlns:a16="http://schemas.microsoft.com/office/drawing/2014/main" id="{C52723BB-8E1E-6DAA-D4A0-039B69F639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7459191" y="3375679"/>
            <a:ext cx="381057" cy="47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A22536ED-2414-DBEE-C320-EC85C5FB322F}"/>
              </a:ext>
            </a:extLst>
          </p:cNvPr>
          <p:cNvSpPr/>
          <p:nvPr/>
        </p:nvSpPr>
        <p:spPr>
          <a:xfrm>
            <a:off x="2381011" y="1052879"/>
            <a:ext cx="3227805" cy="226935"/>
          </a:xfrm>
          <a:prstGeom prst="roundRect">
            <a:avLst>
              <a:gd name="adj" fmla="val 11369"/>
            </a:avLst>
          </a:prstGeom>
          <a:solidFill>
            <a:srgbClr val="A1C93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Question: Where are my keys?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776B5A58-DD08-1FD3-2324-C164148D8456}"/>
              </a:ext>
            </a:extLst>
          </p:cNvPr>
          <p:cNvSpPr/>
          <p:nvPr/>
        </p:nvSpPr>
        <p:spPr>
          <a:xfrm>
            <a:off x="2403149" y="1600120"/>
            <a:ext cx="3074425" cy="958275"/>
          </a:xfrm>
          <a:prstGeom prst="rect">
            <a:avLst/>
          </a:prstGeom>
          <a:noFill/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24404355-1948-2A5D-ABDB-02C0AD1983F8}"/>
              </a:ext>
            </a:extLst>
          </p:cNvPr>
          <p:cNvSpPr txBox="1"/>
          <p:nvPr/>
        </p:nvSpPr>
        <p:spPr>
          <a:xfrm>
            <a:off x="5515219" y="2206264"/>
            <a:ext cx="1173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 Selection</a:t>
            </a:r>
          </a:p>
          <a:p>
            <a:pPr algn="ctr"/>
            <a:r>
              <a:rPr lang="en-US" sz="80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(Probability based)</a:t>
            </a:r>
            <a:endParaRPr lang="nl-NL" sz="800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010850C-0FFF-89C2-F5DE-2832DFCF7279}"/>
              </a:ext>
            </a:extLst>
          </p:cNvPr>
          <p:cNvSpPr txBox="1"/>
          <p:nvPr/>
        </p:nvSpPr>
        <p:spPr>
          <a:xfrm>
            <a:off x="7282717" y="3890780"/>
            <a:ext cx="754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Language</a:t>
            </a:r>
          </a:p>
          <a:p>
            <a:pPr algn="ctr"/>
            <a:r>
              <a:rPr lang="en-US" sz="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</a:t>
            </a:r>
            <a:endParaRPr lang="nl-NL" sz="8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2B80A4E-5169-D329-98E5-5B6560F338B5}"/>
              </a:ext>
            </a:extLst>
          </p:cNvPr>
          <p:cNvCxnSpPr/>
          <p:nvPr/>
        </p:nvCxnSpPr>
        <p:spPr>
          <a:xfrm>
            <a:off x="3066230" y="1390232"/>
            <a:ext cx="0" cy="18288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6" name="Picture 155">
            <a:extLst>
              <a:ext uri="{FF2B5EF4-FFF2-40B4-BE49-F238E27FC236}">
                <a16:creationId xmlns:a16="http://schemas.microsoft.com/office/drawing/2014/main" id="{9DFC74BE-559C-726D-6A7E-D909A174E529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7038" y="3506787"/>
            <a:ext cx="507697" cy="52319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0E768CC7-C353-4018-A00C-C2A47BC8F51A}"/>
              </a:ext>
            </a:extLst>
          </p:cNvPr>
          <p:cNvSpPr txBox="1"/>
          <p:nvPr/>
        </p:nvSpPr>
        <p:spPr>
          <a:xfrm>
            <a:off x="8061665" y="3913744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Output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70804C-F964-1F0A-738A-67F28147E369}"/>
              </a:ext>
            </a:extLst>
          </p:cNvPr>
          <p:cNvCxnSpPr>
            <a:cxnSpLocks/>
          </p:cNvCxnSpPr>
          <p:nvPr/>
        </p:nvCxnSpPr>
        <p:spPr>
          <a:xfrm>
            <a:off x="5762383" y="2172706"/>
            <a:ext cx="64800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7D6CA3E-D8EA-8E6B-8A51-E16F8A2E12F1}"/>
              </a:ext>
            </a:extLst>
          </p:cNvPr>
          <p:cNvSpPr txBox="1"/>
          <p:nvPr/>
        </p:nvSpPr>
        <p:spPr>
          <a:xfrm>
            <a:off x="3326348" y="1361227"/>
            <a:ext cx="2385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Embedding &amp; Scoring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D26B998-C9B3-E57D-F624-4C5EB2CC85B8}"/>
              </a:ext>
            </a:extLst>
          </p:cNvPr>
          <p:cNvCxnSpPr>
            <a:cxnSpLocks/>
          </p:cNvCxnSpPr>
          <p:nvPr/>
        </p:nvCxnSpPr>
        <p:spPr>
          <a:xfrm>
            <a:off x="8148439" y="3739661"/>
            <a:ext cx="38004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6" name="Picture 2" descr="Gear Icon Images – Browse 1,547,415 Stock Photos, Vectors ...">
            <a:extLst>
              <a:ext uri="{FF2B5EF4-FFF2-40B4-BE49-F238E27FC236}">
                <a16:creationId xmlns:a16="http://schemas.microsoft.com/office/drawing/2014/main" id="{EB7C8752-EE3A-16FF-F37C-8041283E0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544" y="3222872"/>
            <a:ext cx="267741" cy="26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567C9B-E91E-D78B-328B-2EF2800598FD}"/>
              </a:ext>
            </a:extLst>
          </p:cNvPr>
          <p:cNvSpPr txBox="1"/>
          <p:nvPr/>
        </p:nvSpPr>
        <p:spPr>
          <a:xfrm>
            <a:off x="6617439" y="3213556"/>
            <a:ext cx="4716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Temp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9A620-1C1D-81C9-42ED-2FA64AEA82FD}"/>
              </a:ext>
            </a:extLst>
          </p:cNvPr>
          <p:cNvSpPr txBox="1"/>
          <p:nvPr/>
        </p:nvSpPr>
        <p:spPr>
          <a:xfrm rot="3268670">
            <a:off x="6801675" y="2997322"/>
            <a:ext cx="4732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Top 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C2A82-E600-DC1D-AF25-3AE27599D920}"/>
              </a:ext>
            </a:extLst>
          </p:cNvPr>
          <p:cNvSpPr txBox="1"/>
          <p:nvPr/>
        </p:nvSpPr>
        <p:spPr>
          <a:xfrm rot="5400000">
            <a:off x="7048960" y="2949812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Top 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61B131-98D0-4199-E545-0CE24FBA4E22}"/>
              </a:ext>
            </a:extLst>
          </p:cNvPr>
          <p:cNvSpPr/>
          <p:nvPr/>
        </p:nvSpPr>
        <p:spPr>
          <a:xfrm>
            <a:off x="6702102" y="1579114"/>
            <a:ext cx="2761937" cy="983351"/>
          </a:xfrm>
          <a:prstGeom prst="rect">
            <a:avLst/>
          </a:prstGeom>
          <a:noFill/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F193DF5-1DFD-8745-E6D1-4F1C4742C9F4}"/>
              </a:ext>
            </a:extLst>
          </p:cNvPr>
          <p:cNvSpPr/>
          <p:nvPr/>
        </p:nvSpPr>
        <p:spPr>
          <a:xfrm>
            <a:off x="6782080" y="1767530"/>
            <a:ext cx="1229526" cy="548639"/>
          </a:xfrm>
          <a:prstGeom prst="roundRect">
            <a:avLst/>
          </a:prstGeom>
          <a:solidFill>
            <a:srgbClr val="FFC000">
              <a:alpha val="24000"/>
            </a:srgbClr>
          </a:solidFill>
          <a:ln w="12700" cap="flat" cmpd="sng" algn="ctr">
            <a:solidFill>
              <a:srgbClr val="3C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1E4C87-1399-B7C0-F468-6A697C4634D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7298" y="1851960"/>
            <a:ext cx="366849" cy="4044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8B1B04-21A2-E5E7-F44C-2FAB1E50A70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357"/>
          <a:stretch>
            <a:fillRect/>
          </a:stretch>
        </p:blipFill>
        <p:spPr>
          <a:xfrm>
            <a:off x="5715075" y="1604098"/>
            <a:ext cx="665389" cy="49748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C1A2E8-46D2-AD13-8B1E-6CF32D3923F3}"/>
              </a:ext>
            </a:extLst>
          </p:cNvPr>
          <p:cNvCxnSpPr/>
          <p:nvPr/>
        </p:nvCxnSpPr>
        <p:spPr>
          <a:xfrm>
            <a:off x="7700780" y="2684787"/>
            <a:ext cx="0" cy="50400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9FB0AA-6081-698F-724A-CD36EA7E9567}"/>
              </a:ext>
            </a:extLst>
          </p:cNvPr>
          <p:cNvSpPr txBox="1"/>
          <p:nvPr/>
        </p:nvSpPr>
        <p:spPr>
          <a:xfrm>
            <a:off x="6716573" y="2346835"/>
            <a:ext cx="18309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(Chunk-wise, </a:t>
            </a: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Global-reasoning)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E2B9D5F-2FE3-0B72-0315-A748D66A15AC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01227" y="2639445"/>
            <a:ext cx="694423" cy="6118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D6928D0-9A3C-6A03-1A29-184B8B14CDE4}"/>
              </a:ext>
            </a:extLst>
          </p:cNvPr>
          <p:cNvSpPr txBox="1"/>
          <p:nvPr/>
        </p:nvSpPr>
        <p:spPr>
          <a:xfrm>
            <a:off x="8408366" y="2753514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Optimize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Prompt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13479D-2299-D407-7C53-5EE547DB3516}"/>
              </a:ext>
            </a:extLst>
          </p:cNvPr>
          <p:cNvSpPr txBox="1"/>
          <p:nvPr/>
        </p:nvSpPr>
        <p:spPr>
          <a:xfrm>
            <a:off x="6922658" y="1320984"/>
            <a:ext cx="14013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Context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FF594C-EAE7-6DD2-B0E7-1BD9F423F477}"/>
              </a:ext>
            </a:extLst>
          </p:cNvPr>
          <p:cNvSpPr txBox="1"/>
          <p:nvPr/>
        </p:nvSpPr>
        <p:spPr>
          <a:xfrm>
            <a:off x="2418237" y="2344370"/>
            <a:ext cx="12490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(TFIDF, BOW, BERT)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ED608C-9339-3BFC-8527-B59B41435D47}"/>
              </a:ext>
            </a:extLst>
          </p:cNvPr>
          <p:cNvSpPr txBox="1"/>
          <p:nvPr/>
        </p:nvSpPr>
        <p:spPr>
          <a:xfrm>
            <a:off x="4828728" y="2327797"/>
            <a:ext cx="6206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(Cosine)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6FC9B-F2D7-D82F-5A6A-89CF8CA31F22}"/>
              </a:ext>
            </a:extLst>
          </p:cNvPr>
          <p:cNvSpPr txBox="1"/>
          <p:nvPr/>
        </p:nvSpPr>
        <p:spPr>
          <a:xfrm>
            <a:off x="7147215" y="1858725"/>
            <a:ext cx="6294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Chunk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analyzer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C04E34-9FD3-23A7-FAD0-3BF87FA7EFCA}"/>
              </a:ext>
            </a:extLst>
          </p:cNvPr>
          <p:cNvSpPr/>
          <p:nvPr/>
        </p:nvSpPr>
        <p:spPr>
          <a:xfrm>
            <a:off x="8306519" y="1775243"/>
            <a:ext cx="1071909" cy="548639"/>
          </a:xfrm>
          <a:prstGeom prst="roundRect">
            <a:avLst/>
          </a:prstGeom>
          <a:solidFill>
            <a:srgbClr val="FFC000">
              <a:alpha val="24000"/>
            </a:srgbClr>
          </a:solidFill>
          <a:ln w="12700" cap="flat" cmpd="sng" algn="ctr">
            <a:solidFill>
              <a:srgbClr val="3C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pic>
        <p:nvPicPr>
          <p:cNvPr id="16" name="Picture 2" descr="Bot (informática) - EcuRed">
            <a:extLst>
              <a:ext uri="{FF2B5EF4-FFF2-40B4-BE49-F238E27FC236}">
                <a16:creationId xmlns:a16="http://schemas.microsoft.com/office/drawing/2014/main" id="{58BCF4CF-4670-CC1D-DED0-2FFB0BA22C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7690433" y="1873277"/>
            <a:ext cx="269049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Bot (informática) - EcuRed">
            <a:extLst>
              <a:ext uri="{FF2B5EF4-FFF2-40B4-BE49-F238E27FC236}">
                <a16:creationId xmlns:a16="http://schemas.microsoft.com/office/drawing/2014/main" id="{4CED5A46-5A8B-5A74-6B63-D59D2E57D1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8396178" y="1838111"/>
            <a:ext cx="283775" cy="35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16CF55-B61A-F81D-2A4F-5B5C8DA084C0}"/>
              </a:ext>
            </a:extLst>
          </p:cNvPr>
          <p:cNvSpPr txBox="1"/>
          <p:nvPr/>
        </p:nvSpPr>
        <p:spPr>
          <a:xfrm>
            <a:off x="8693417" y="1808731"/>
            <a:ext cx="750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Smart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Context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Creation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56F55E-3CF0-29B2-7147-E8675F9D2C3C}"/>
              </a:ext>
            </a:extLst>
          </p:cNvPr>
          <p:cNvCxnSpPr>
            <a:cxnSpLocks/>
          </p:cNvCxnSpPr>
          <p:nvPr/>
        </p:nvCxnSpPr>
        <p:spPr>
          <a:xfrm>
            <a:off x="8047165" y="2074145"/>
            <a:ext cx="234384" cy="0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4BD7B1-AC3B-C5D0-B669-269A20AD6C72}"/>
              </a:ext>
            </a:extLst>
          </p:cNvPr>
          <p:cNvSpPr txBox="1"/>
          <p:nvPr/>
        </p:nvSpPr>
        <p:spPr>
          <a:xfrm>
            <a:off x="3640005" y="2659881"/>
            <a:ext cx="15584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Searching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CF72F5-A1F3-61E0-E270-6DF4FEA9C843}"/>
              </a:ext>
            </a:extLst>
          </p:cNvPr>
          <p:cNvSpPr txBox="1"/>
          <p:nvPr/>
        </p:nvSpPr>
        <p:spPr>
          <a:xfrm>
            <a:off x="3631471" y="2859286"/>
            <a:ext cx="9509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800" dirty="0"/>
              <a:t>FAISS, </a:t>
            </a:r>
            <a:r>
              <a:rPr lang="en-US" sz="800" dirty="0" err="1"/>
              <a:t>MemVid</a:t>
            </a: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111B65-7D0D-56E3-FA4B-FEE45CDCF351}"/>
              </a:ext>
            </a:extLst>
          </p:cNvPr>
          <p:cNvSpPr txBox="1"/>
          <p:nvPr/>
        </p:nvSpPr>
        <p:spPr>
          <a:xfrm>
            <a:off x="2805376" y="4097252"/>
            <a:ext cx="15199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3320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AAAE-948B-697F-3DE9-4D51D28F0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>
            <a:extLst>
              <a:ext uri="{FF2B5EF4-FFF2-40B4-BE49-F238E27FC236}">
                <a16:creationId xmlns:a16="http://schemas.microsoft.com/office/drawing/2014/main" id="{58840E08-2444-C545-ABFE-F1198A9D9204}"/>
              </a:ext>
            </a:extLst>
          </p:cNvPr>
          <p:cNvSpPr/>
          <p:nvPr/>
        </p:nvSpPr>
        <p:spPr>
          <a:xfrm>
            <a:off x="7023535" y="3333483"/>
            <a:ext cx="774646" cy="918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7284B7F-74B3-C07A-A47C-5576E441D90E}"/>
              </a:ext>
            </a:extLst>
          </p:cNvPr>
          <p:cNvSpPr/>
          <p:nvPr/>
        </p:nvSpPr>
        <p:spPr>
          <a:xfrm>
            <a:off x="5646957" y="3342706"/>
            <a:ext cx="774646" cy="918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AFA73960-A823-9D36-5A0F-58D530C16498}"/>
              </a:ext>
            </a:extLst>
          </p:cNvPr>
          <p:cNvGrpSpPr/>
          <p:nvPr/>
        </p:nvGrpSpPr>
        <p:grpSpPr>
          <a:xfrm>
            <a:off x="1986266" y="3118647"/>
            <a:ext cx="2211423" cy="1242027"/>
            <a:chOff x="2269137" y="4929447"/>
            <a:chExt cx="2211423" cy="1242027"/>
          </a:xfrm>
        </p:grpSpPr>
        <p:sp>
          <p:nvSpPr>
            <p:cNvPr id="84" name="Cylinder 83">
              <a:extLst>
                <a:ext uri="{FF2B5EF4-FFF2-40B4-BE49-F238E27FC236}">
                  <a16:creationId xmlns:a16="http://schemas.microsoft.com/office/drawing/2014/main" id="{A94A7FA4-7198-2B7D-D285-51ACDF9FC726}"/>
                </a:ext>
              </a:extLst>
            </p:cNvPr>
            <p:cNvSpPr/>
            <p:nvPr/>
          </p:nvSpPr>
          <p:spPr>
            <a:xfrm>
              <a:off x="3596386" y="5070506"/>
              <a:ext cx="673582" cy="841319"/>
            </a:xfrm>
            <a:prstGeom prst="can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3D8B686-9B69-7335-BE66-986BFE348E30}"/>
                </a:ext>
              </a:extLst>
            </p:cNvPr>
            <p:cNvSpPr txBox="1"/>
            <p:nvPr/>
          </p:nvSpPr>
          <p:spPr>
            <a:xfrm>
              <a:off x="3561592" y="5345092"/>
              <a:ext cx="726481" cy="272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Database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5EA8912-E7D9-21D5-9A82-60EBF667D82C}"/>
                </a:ext>
              </a:extLst>
            </p:cNvPr>
            <p:cNvSpPr txBox="1"/>
            <p:nvPr/>
          </p:nvSpPr>
          <p:spPr>
            <a:xfrm>
              <a:off x="2787015" y="5262879"/>
              <a:ext cx="6735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Chunking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&amp;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Indexing</a:t>
              </a:r>
              <a:endParaRPr kumimoji="0" lang="nl-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2CD4A441-3FAE-4676-583D-4F2D48522C99}"/>
                </a:ext>
              </a:extLst>
            </p:cNvPr>
            <p:cNvSpPr/>
            <p:nvPr/>
          </p:nvSpPr>
          <p:spPr>
            <a:xfrm>
              <a:off x="2269137" y="5464428"/>
              <a:ext cx="293409" cy="172063"/>
            </a:xfrm>
            <a:prstGeom prst="rightArrow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C70AB30-1F51-FACE-8DA1-3640E278B04B}"/>
                </a:ext>
              </a:extLst>
            </p:cNvPr>
            <p:cNvSpPr/>
            <p:nvPr/>
          </p:nvSpPr>
          <p:spPr>
            <a:xfrm>
              <a:off x="2686020" y="4929447"/>
              <a:ext cx="1794540" cy="1242027"/>
            </a:xfrm>
            <a:prstGeom prst="rect">
              <a:avLst/>
            </a:prstGeom>
            <a:noFill/>
            <a:ln w="12700" cap="flat" cmpd="sng" algn="ctr">
              <a:solidFill>
                <a:srgbClr val="C4232A">
                  <a:lumMod val="60000"/>
                  <a:lumOff val="40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</p:grpSp>
      <p:pic>
        <p:nvPicPr>
          <p:cNvPr id="91" name="Picture 90">
            <a:extLst>
              <a:ext uri="{FF2B5EF4-FFF2-40B4-BE49-F238E27FC236}">
                <a16:creationId xmlns:a16="http://schemas.microsoft.com/office/drawing/2014/main" id="{5BBEF78F-E7EA-F270-FBE4-62777441581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1613" y="2684787"/>
            <a:ext cx="370435" cy="349023"/>
          </a:xfrm>
          <a:prstGeom prst="rect">
            <a:avLst/>
          </a:prstGeom>
        </p:spPr>
      </p:pic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BD1CE13-781E-90D1-4D30-DAB668CE82F4}"/>
              </a:ext>
            </a:extLst>
          </p:cNvPr>
          <p:cNvCxnSpPr>
            <a:cxnSpLocks/>
          </p:cNvCxnSpPr>
          <p:nvPr/>
        </p:nvCxnSpPr>
        <p:spPr>
          <a:xfrm flipV="1">
            <a:off x="3122685" y="2731184"/>
            <a:ext cx="0" cy="27432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570DF7C-8A62-C81A-43B3-4DFD59F2EB4D}"/>
              </a:ext>
            </a:extLst>
          </p:cNvPr>
          <p:cNvGrpSpPr/>
          <p:nvPr/>
        </p:nvGrpSpPr>
        <p:grpSpPr>
          <a:xfrm>
            <a:off x="2419147" y="1748558"/>
            <a:ext cx="1862635" cy="584775"/>
            <a:chOff x="2961190" y="3065338"/>
            <a:chExt cx="1862635" cy="584775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7C39A6FF-D997-AF5F-F5CD-D5096C6C845F}"/>
                </a:ext>
              </a:extLst>
            </p:cNvPr>
            <p:cNvSpPr/>
            <p:nvPr/>
          </p:nvSpPr>
          <p:spPr>
            <a:xfrm>
              <a:off x="3010964" y="3067514"/>
              <a:ext cx="1812861" cy="548639"/>
            </a:xfrm>
            <a:prstGeom prst="roundRect">
              <a:avLst/>
            </a:prstGeom>
            <a:solidFill>
              <a:srgbClr val="FFC000">
                <a:alpha val="24000"/>
              </a:srgbClr>
            </a:solidFill>
            <a:ln w="12700" cap="flat" cmpd="sng" algn="ctr">
              <a:solidFill>
                <a:srgbClr val="3C9BD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E0F777C-C89C-F41A-DFA9-9060AD5A2B3D}"/>
                </a:ext>
              </a:extLst>
            </p:cNvPr>
            <p:cNvSpPr txBox="1"/>
            <p:nvPr/>
          </p:nvSpPr>
          <p:spPr>
            <a:xfrm>
              <a:off x="2961190" y="3065338"/>
              <a:ext cx="16470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- Retrieve last N summaries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kern="0" dirty="0">
                  <a:solidFill>
                    <a:prstClr val="black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- Add current chunk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- Add Instructions + Query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- Send Prompt to LLM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BE059F2-1350-E65E-EA76-162F7D1512F8}"/>
              </a:ext>
            </a:extLst>
          </p:cNvPr>
          <p:cNvGrpSpPr/>
          <p:nvPr/>
        </p:nvGrpSpPr>
        <p:grpSpPr>
          <a:xfrm>
            <a:off x="4477965" y="1750734"/>
            <a:ext cx="1040927" cy="548639"/>
            <a:chOff x="3160592" y="3067514"/>
            <a:chExt cx="1297881" cy="548639"/>
          </a:xfrm>
        </p:grpSpPr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BF6A94C0-1457-5884-E621-A61C8C7D2DC8}"/>
                </a:ext>
              </a:extLst>
            </p:cNvPr>
            <p:cNvSpPr/>
            <p:nvPr/>
          </p:nvSpPr>
          <p:spPr>
            <a:xfrm>
              <a:off x="3195952" y="3067514"/>
              <a:ext cx="1109383" cy="548639"/>
            </a:xfrm>
            <a:prstGeom prst="roundRect">
              <a:avLst/>
            </a:prstGeom>
            <a:solidFill>
              <a:srgbClr val="FFC000">
                <a:alpha val="24000"/>
              </a:srgbClr>
            </a:solidFill>
            <a:ln w="12700" cap="flat" cmpd="sng" algn="ctr">
              <a:solidFill>
                <a:srgbClr val="3C9BD5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nl-NL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7FA9D7D-D8FF-582F-377C-9879BCDCA71E}"/>
                </a:ext>
              </a:extLst>
            </p:cNvPr>
            <p:cNvSpPr txBox="1"/>
            <p:nvPr/>
          </p:nvSpPr>
          <p:spPr>
            <a:xfrm>
              <a:off x="3160592" y="3163175"/>
              <a:ext cx="12978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 panose="020B0604030504040204" pitchFamily="34" charset="0"/>
                  <a:ea typeface="Verdana" panose="020B0604030504040204" pitchFamily="34" charset="0"/>
                </a:rPr>
                <a:t>Append partial result to list</a:t>
              </a:r>
              <a:endParaRPr kumimoji="0" lang="nl-NL" sz="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pic>
        <p:nvPicPr>
          <p:cNvPr id="108" name="Picture 2" descr="Bot (informática) - EcuRed">
            <a:extLst>
              <a:ext uri="{FF2B5EF4-FFF2-40B4-BE49-F238E27FC236}">
                <a16:creationId xmlns:a16="http://schemas.microsoft.com/office/drawing/2014/main" id="{38E5DCFD-FE47-A683-79A5-08298210F1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rgbClr val="3C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5843751" y="3375679"/>
            <a:ext cx="381057" cy="47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9FCAF378-10F3-3756-067E-FA20E0EEB8AC}"/>
              </a:ext>
            </a:extLst>
          </p:cNvPr>
          <p:cNvSpPr/>
          <p:nvPr/>
        </p:nvSpPr>
        <p:spPr>
          <a:xfrm>
            <a:off x="2403149" y="1600120"/>
            <a:ext cx="3074425" cy="958275"/>
          </a:xfrm>
          <a:prstGeom prst="rect">
            <a:avLst/>
          </a:prstGeom>
          <a:noFill/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DB36235-9051-F190-A5BC-FAFBC153D022}"/>
              </a:ext>
            </a:extLst>
          </p:cNvPr>
          <p:cNvSpPr txBox="1"/>
          <p:nvPr/>
        </p:nvSpPr>
        <p:spPr>
          <a:xfrm>
            <a:off x="5667277" y="3890780"/>
            <a:ext cx="754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Language</a:t>
            </a:r>
          </a:p>
          <a:p>
            <a:pPr algn="ctr"/>
            <a:r>
              <a:rPr lang="en-US" sz="8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Model</a:t>
            </a:r>
            <a:endParaRPr lang="nl-NL" sz="8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3522D56-DCCA-EECB-7C09-2BB28B3A496C}"/>
              </a:ext>
            </a:extLst>
          </p:cNvPr>
          <p:cNvCxnSpPr>
            <a:cxnSpLocks/>
          </p:cNvCxnSpPr>
          <p:nvPr/>
        </p:nvCxnSpPr>
        <p:spPr>
          <a:xfrm>
            <a:off x="4298963" y="2141648"/>
            <a:ext cx="18000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6" name="Picture 155">
            <a:extLst>
              <a:ext uri="{FF2B5EF4-FFF2-40B4-BE49-F238E27FC236}">
                <a16:creationId xmlns:a16="http://schemas.microsoft.com/office/drawing/2014/main" id="{9B2F6680-0DFB-6E89-0D06-FC4BB56D9D2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81598" y="3506787"/>
            <a:ext cx="507697" cy="523199"/>
          </a:xfrm>
          <a:prstGeom prst="rect">
            <a:avLst/>
          </a:prstGeom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02C5A887-C98D-4C80-6596-9913B522E9C3}"/>
              </a:ext>
            </a:extLst>
          </p:cNvPr>
          <p:cNvSpPr txBox="1"/>
          <p:nvPr/>
        </p:nvSpPr>
        <p:spPr>
          <a:xfrm>
            <a:off x="6446225" y="3913744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Output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A9C6D676-7C32-98E9-0780-02D442D351AF}"/>
              </a:ext>
            </a:extLst>
          </p:cNvPr>
          <p:cNvCxnSpPr>
            <a:cxnSpLocks/>
          </p:cNvCxnSpPr>
          <p:nvPr/>
        </p:nvCxnSpPr>
        <p:spPr>
          <a:xfrm>
            <a:off x="5574423" y="2101586"/>
            <a:ext cx="32400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456DE010-F3A7-C85E-DF6E-F12709326CB6}"/>
              </a:ext>
            </a:extLst>
          </p:cNvPr>
          <p:cNvSpPr txBox="1"/>
          <p:nvPr/>
        </p:nvSpPr>
        <p:spPr>
          <a:xfrm>
            <a:off x="2418237" y="1361227"/>
            <a:ext cx="30553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Chunk-Loop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C17D29A-B579-A486-96FC-78ABDBD1C8C3}"/>
              </a:ext>
            </a:extLst>
          </p:cNvPr>
          <p:cNvCxnSpPr>
            <a:cxnSpLocks/>
          </p:cNvCxnSpPr>
          <p:nvPr/>
        </p:nvCxnSpPr>
        <p:spPr>
          <a:xfrm>
            <a:off x="6532999" y="3739661"/>
            <a:ext cx="38004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26" name="Picture 2" descr="Gear Icon Images – Browse 1,547,415 Stock Photos, Vectors ...">
            <a:extLst>
              <a:ext uri="{FF2B5EF4-FFF2-40B4-BE49-F238E27FC236}">
                <a16:creationId xmlns:a16="http://schemas.microsoft.com/office/drawing/2014/main" id="{1AECB0A3-77BC-66E6-2B68-47C34414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104" y="3222872"/>
            <a:ext cx="267741" cy="26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43970-893A-DC63-B472-1AF91A9C6CFA}"/>
              </a:ext>
            </a:extLst>
          </p:cNvPr>
          <p:cNvSpPr txBox="1"/>
          <p:nvPr/>
        </p:nvSpPr>
        <p:spPr>
          <a:xfrm>
            <a:off x="5001999" y="3213556"/>
            <a:ext cx="4716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Temp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BD0719-6936-4181-1582-39240C2BE1CF}"/>
              </a:ext>
            </a:extLst>
          </p:cNvPr>
          <p:cNvSpPr txBox="1"/>
          <p:nvPr/>
        </p:nvSpPr>
        <p:spPr>
          <a:xfrm rot="3268670">
            <a:off x="5186235" y="2997322"/>
            <a:ext cx="4732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Top 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3EA8B-9F21-03A5-8C88-73F69F622485}"/>
              </a:ext>
            </a:extLst>
          </p:cNvPr>
          <p:cNvSpPr txBox="1"/>
          <p:nvPr/>
        </p:nvSpPr>
        <p:spPr>
          <a:xfrm rot="5400000">
            <a:off x="5433520" y="2949812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</a:rPr>
              <a:t>Top 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D402E2-C131-C549-CC2C-D65D07D6961A}"/>
              </a:ext>
            </a:extLst>
          </p:cNvPr>
          <p:cNvSpPr/>
          <p:nvPr/>
        </p:nvSpPr>
        <p:spPr>
          <a:xfrm>
            <a:off x="5935023" y="1579114"/>
            <a:ext cx="1583378" cy="983351"/>
          </a:xfrm>
          <a:prstGeom prst="rect">
            <a:avLst/>
          </a:prstGeom>
          <a:noFill/>
          <a:ln w="12700" cap="flat" cmpd="sng" algn="ctr">
            <a:solidFill>
              <a:srgbClr val="C4232A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14E054-E291-C6E8-6457-09AC473102DB}"/>
              </a:ext>
            </a:extLst>
          </p:cNvPr>
          <p:cNvSpPr/>
          <p:nvPr/>
        </p:nvSpPr>
        <p:spPr>
          <a:xfrm>
            <a:off x="6014999" y="1767530"/>
            <a:ext cx="1279585" cy="548639"/>
          </a:xfrm>
          <a:prstGeom prst="roundRect">
            <a:avLst/>
          </a:prstGeom>
          <a:solidFill>
            <a:srgbClr val="FFC000">
              <a:alpha val="24000"/>
            </a:srgbClr>
          </a:solidFill>
          <a:ln w="12700" cap="flat" cmpd="sng" algn="ctr">
            <a:solidFill>
              <a:srgbClr val="3C9BD5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C2BBA1-E50F-77AE-E512-A7D976B2AA4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0218" y="1851960"/>
            <a:ext cx="366849" cy="40444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D61310-7AF7-FE94-8BE0-71109D836C84}"/>
              </a:ext>
            </a:extLst>
          </p:cNvPr>
          <p:cNvCxnSpPr/>
          <p:nvPr/>
        </p:nvCxnSpPr>
        <p:spPr>
          <a:xfrm>
            <a:off x="6085340" y="2684787"/>
            <a:ext cx="0" cy="50400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0930579D-C566-862B-C133-CE51C8ECFF3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85787" y="2639445"/>
            <a:ext cx="694423" cy="6118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D257119-8E76-1076-C58F-1DE57AE597E1}"/>
              </a:ext>
            </a:extLst>
          </p:cNvPr>
          <p:cNvSpPr txBox="1"/>
          <p:nvPr/>
        </p:nvSpPr>
        <p:spPr>
          <a:xfrm>
            <a:off x="6792926" y="2753514"/>
            <a:ext cx="678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Optimize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Prompt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ABEC97-B079-F5C5-31AC-FB52D373ADFC}"/>
              </a:ext>
            </a:extLst>
          </p:cNvPr>
          <p:cNvSpPr txBox="1"/>
          <p:nvPr/>
        </p:nvSpPr>
        <p:spPr>
          <a:xfrm>
            <a:off x="5935023" y="1345494"/>
            <a:ext cx="15833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Synthesis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E2D11D-110B-D6D0-B97D-2C06468FD6EA}"/>
              </a:ext>
            </a:extLst>
          </p:cNvPr>
          <p:cNvSpPr txBox="1"/>
          <p:nvPr/>
        </p:nvSpPr>
        <p:spPr>
          <a:xfrm>
            <a:off x="2418237" y="2344370"/>
            <a:ext cx="19447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(Select context and Build prompt)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5339E1-09CC-DD16-22F5-C721566B75D9}"/>
              </a:ext>
            </a:extLst>
          </p:cNvPr>
          <p:cNvSpPr txBox="1"/>
          <p:nvPr/>
        </p:nvSpPr>
        <p:spPr>
          <a:xfrm>
            <a:off x="4553562" y="2327797"/>
            <a:ext cx="9653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(Store Results)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61575-4C1B-D681-BFBE-2245974F11BE}"/>
              </a:ext>
            </a:extLst>
          </p:cNvPr>
          <p:cNvSpPr txBox="1"/>
          <p:nvPr/>
        </p:nvSpPr>
        <p:spPr>
          <a:xfrm>
            <a:off x="6380135" y="1858725"/>
            <a:ext cx="1001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- Merge results</a:t>
            </a:r>
          </a:p>
          <a:p>
            <a:pPr lvl="0">
              <a:defRPr/>
            </a:pPr>
            <a:r>
              <a:rPr kumimoji="0" lang="nl-NL" sz="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</a:rPr>
              <a:t>- Build prompt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0FB4D6-2B91-77C8-FCC9-F2742F89C6D4}"/>
              </a:ext>
            </a:extLst>
          </p:cNvPr>
          <p:cNvSpPr txBox="1"/>
          <p:nvPr/>
        </p:nvSpPr>
        <p:spPr>
          <a:xfrm>
            <a:off x="3552967" y="2721337"/>
            <a:ext cx="10005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New Chunk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0F9636-110B-74FF-2C84-D2767FBF9410}"/>
              </a:ext>
            </a:extLst>
          </p:cNvPr>
          <p:cNvSpPr txBox="1"/>
          <p:nvPr/>
        </p:nvSpPr>
        <p:spPr>
          <a:xfrm>
            <a:off x="2581732" y="4091057"/>
            <a:ext cx="15199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Chunking Strategy</a:t>
            </a:r>
            <a:endParaRPr lang="nl-NL" sz="1000" b="1" dirty="0" err="1">
              <a:solidFill>
                <a:prstClr val="black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8F68A5-2C15-5324-6EFE-EEFC6ECF31E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4F4F6"/>
              </a:clrFrom>
              <a:clrTo>
                <a:srgbClr val="F4F4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7751" y="3421219"/>
            <a:ext cx="613721" cy="650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3CE48F-D58E-65A9-BA6C-B5137CD1971C}"/>
              </a:ext>
            </a:extLst>
          </p:cNvPr>
          <p:cNvSpPr txBox="1"/>
          <p:nvPr/>
        </p:nvSpPr>
        <p:spPr>
          <a:xfrm>
            <a:off x="1233500" y="3118647"/>
            <a:ext cx="856325" cy="252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0" dirty="0">
                <a:solidFill>
                  <a:prstClr val="black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Document(s)</a:t>
            </a:r>
            <a:endParaRPr kumimoji="0" lang="nl-NL" sz="8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938317-D636-242E-0273-A948D86864E5}"/>
              </a:ext>
            </a:extLst>
          </p:cNvPr>
          <p:cNvCxnSpPr>
            <a:cxnSpLocks/>
          </p:cNvCxnSpPr>
          <p:nvPr/>
        </p:nvCxnSpPr>
        <p:spPr>
          <a:xfrm flipH="1">
            <a:off x="4294437" y="1906698"/>
            <a:ext cx="180000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0" name="Picture 2" descr="Bot (informática) - EcuRed">
            <a:extLst>
              <a:ext uri="{FF2B5EF4-FFF2-40B4-BE49-F238E27FC236}">
                <a16:creationId xmlns:a16="http://schemas.microsoft.com/office/drawing/2014/main" id="{ECC3BD2E-355D-70C9-77FB-3613C26097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2" t="6530" r="16637" b="12432"/>
          <a:stretch/>
        </p:blipFill>
        <p:spPr bwMode="auto">
          <a:xfrm>
            <a:off x="3962281" y="1840836"/>
            <a:ext cx="269049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859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199</Words>
  <Application>Microsoft Office PowerPoint</Application>
  <PresentationFormat>Widescreen</PresentationFormat>
  <Paragraphs>91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Segoe UI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 T</dc:creator>
  <cp:lastModifiedBy>E T</cp:lastModifiedBy>
  <cp:revision>15</cp:revision>
  <dcterms:created xsi:type="dcterms:W3CDTF">2025-09-04T11:00:06Z</dcterms:created>
  <dcterms:modified xsi:type="dcterms:W3CDTF">2025-09-21T12:40:39Z</dcterms:modified>
</cp:coreProperties>
</file>